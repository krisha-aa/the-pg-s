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E1-4D4D-A4C2-47A0B55DCA4B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E1-4D4D-A4C2-47A0B55DCA4B}"/>
              </c:ext>
            </c:extLst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E1-4D4D-A4C2-47A0B55DCA4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Worsened</c:v>
                </c:pt>
                <c:pt idx="1">
                  <c:v>Stayed the Same</c:v>
                </c:pt>
                <c:pt idx="2">
                  <c:v>Improved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10981</c:v>
                </c:pt>
                <c:pt idx="1">
                  <c:v>5609</c:v>
                </c:pt>
                <c:pt idx="2">
                  <c:v>4281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E1-4D4D-A4C2-47A0B55DCA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6F9-4AB3-B1B5-AE3D4C089CE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6F9-4AB3-B1B5-AE3D4C089CEE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6F9-4AB3-B1B5-AE3D4C089CEE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6F9-4AB3-B1B5-AE3D4C089CEE}"/>
              </c:ext>
            </c:extLst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6F9-4AB3-B1B5-AE3D4C089CEE}"/>
              </c:ext>
            </c:extLst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6F9-4AB3-B1B5-AE3D4C089C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  <c:pt idx="4">
                  <c:v>LightGBM</c:v>
                </c:pt>
                <c:pt idx="5">
                  <c:v>Voting Ensemble ★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0.501</c:v>
                </c:pt>
                <c:pt idx="1">
                  <c:v>0.47799999999999998</c:v>
                </c:pt>
                <c:pt idx="2">
                  <c:v>0.53800000000000003</c:v>
                </c:pt>
                <c:pt idx="3">
                  <c:v>0.54500000000000004</c:v>
                </c:pt>
                <c:pt idx="4">
                  <c:v>0.54800000000000004</c:v>
                </c:pt>
                <c:pt idx="5">
                  <c:v>0.55169999999999997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6F9-4AB3-B1B5-AE3D4C089C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F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7999999999999996"/>
          <c:min val="0.44"/>
        </c:scaling>
        <c:delete val="0"/>
        <c:axPos val="b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F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3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098030" y="137160"/>
            <a:ext cx="2011680" cy="156972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DataSprint 2026  ·  iLab Africa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FinAccess 2024: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58140" y="147218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 Financial Health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1503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&amp; Improving Financial Resilience Across 47 Counties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561844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320040" y="2761488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94360" y="274624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1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9.9% of Kenyan adults are fully excluded from financial services. 52.6% reported their financial situation has </a:t>
            </a: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</a:t>
            </a:r>
            <a:r>
              <a:rPr lang="en-US" sz="11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compared to the previous year — behind each number is a real person.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3327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PG's
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FinAccess 2024 · 20,871 respondents · 47 counties
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 IN NUMBERS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</a:rPr>
              <a:t>SLIDE 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960120"/>
            <a:ext cx="2057400" cy="1874520"/>
          </a:xfrm>
          <a:prstGeom prst="roundRect">
            <a:avLst>
              <a:gd name="adj" fmla="val 585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64592" y="10241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4592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Kenyans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10,981 respondents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86584" y="960120"/>
            <a:ext cx="2057400" cy="1874520"/>
          </a:xfrm>
          <a:prstGeom prst="roundRect">
            <a:avLst>
              <a:gd name="adj" fmla="val 585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386584" y="10241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86584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86584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5,609 respondents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960120"/>
            <a:ext cx="2057400" cy="1874520"/>
          </a:xfrm>
          <a:prstGeom prst="roundRect">
            <a:avLst>
              <a:gd name="adj" fmla="val 5854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608576" y="10241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08576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08576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4,281 respondents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30568" y="960120"/>
            <a:ext cx="2057400" cy="1874520"/>
          </a:xfrm>
          <a:prstGeom prst="roundRect">
            <a:avLst>
              <a:gd name="adj" fmla="val 585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6830568" y="102412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20,871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30568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0568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47 counties</a:t>
            </a:r>
            <a:endParaRPr lang="en-US" sz="9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164592" y="2944368"/>
          <a:ext cx="4754880" cy="1993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074920" y="2944368"/>
            <a:ext cx="3913632" cy="1993392"/>
          </a:xfrm>
          <a:prstGeom prst="roundRect">
            <a:avLst>
              <a:gd name="adj" fmla="val 4587"/>
            </a:avLst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0"/>
          <p:cNvSpPr/>
          <p:nvPr/>
        </p:nvSpPr>
        <p:spPr>
          <a:xfrm>
            <a:off x="5230368" y="30175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County Deterioration Rates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230368" y="33558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Kisumu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36208" y="3392424"/>
            <a:ext cx="2002536" cy="164592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8293608" y="33558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230368" y="364845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 River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236208" y="3685032"/>
            <a:ext cx="1947672" cy="164592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6"/>
          <p:cNvSpPr/>
          <p:nvPr/>
        </p:nvSpPr>
        <p:spPr>
          <a:xfrm>
            <a:off x="8238744" y="3648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230368" y="39410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Homa Bay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36208" y="3977640"/>
            <a:ext cx="1947672" cy="164592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29"/>
          <p:cNvSpPr/>
          <p:nvPr/>
        </p:nvSpPr>
        <p:spPr>
          <a:xfrm>
            <a:off x="8238744" y="39410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230368" y="4233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Turkana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236208" y="4270248"/>
            <a:ext cx="1892808" cy="164592"/>
          </a:xfrm>
          <a:prstGeom prst="roundRect">
            <a:avLst>
              <a:gd name="adj" fmla="val 1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2"/>
          <p:cNvSpPr/>
          <p:nvPr/>
        </p:nvSpPr>
        <p:spPr>
          <a:xfrm>
            <a:off x="8183880" y="4233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230368" y="4526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Marsabit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236208" y="4562856"/>
            <a:ext cx="1783080" cy="164592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5"/>
          <p:cNvSpPr/>
          <p:nvPr/>
        </p:nvSpPr>
        <p:spPr>
          <a:xfrm>
            <a:off x="8074152" y="45262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230368" y="4681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avg: 52.6%  |  Source: Notebook Chart 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OF VULNERABILITY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pushes Kenyans into financial deterioration?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401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Shocks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12801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38912" y="177393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shock-exposed households with NO savings worsened — our most vulnerable group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17043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401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353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Gap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98080" y="12801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61.6%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919472" y="177393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rate for households experiencing shock without any savings buffer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304495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3"/>
          <p:cNvSpPr/>
          <p:nvPr/>
        </p:nvSpPr>
        <p:spPr>
          <a:xfrm>
            <a:off x="411480" y="3246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147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017520" y="3154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1.8×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438912" y="364845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resilience score for those with 'All correct' vs 'None correct' literacy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54880" y="3044952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18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1470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04688" y="3227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Exclusion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98080" y="31546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4919472" y="364845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counties with no mobile money show highest vulnerability index scores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evaluated · Feature engineering · Ensemble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imputed, rare categories collapsed, 7 EDA charts generated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122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new features: vulnerability_index, resilience_score, shock_no_savings, log_income + 7 more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74320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0540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3649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15 categorical vars · StandardScaler for LR · 80/20 stratified split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3250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27432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959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Trained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30682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 · Decision Tree · Random Forest · XGBoost · LightGBM · Voting Ensemble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1170432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516636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Strategy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1664208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166360" y="1664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52.6%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66360" y="1892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28232" y="1664208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6428232" y="1664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28232" y="1892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Same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90104" y="1664208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7690104" y="1664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20.5%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90104" y="18928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2212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applied to all models · Weighted F1 as evaluation metric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2971800"/>
            <a:ext cx="3840480" cy="1920240"/>
          </a:xfrm>
          <a:prstGeom prst="roundRect">
            <a:avLst>
              <a:gd name="adj" fmla="val 5714"/>
            </a:avLst>
          </a:prstGeom>
          <a:solidFill>
            <a:srgbClr val="1A2A3A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16636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Voting Ensemble?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34290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non-linear patterns in income &amp; savings
</a:t>
            </a: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sparse features &amp; shock interactions
</a:t>
            </a: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 &amp; accurate on high-cardinality county data
</a:t>
            </a: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reduces variance → best generalisation on test set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WINNING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evaluated · 11 engineered features · Deployment-ready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5577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51560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6172200" y="1124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13441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0.5517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172200" y="17647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Ensemble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+ XGB + LGBM)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2350008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6172200" y="2423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72200" y="26426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17220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raw + 11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3648456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617220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Size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394106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4,175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72200" y="4361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holdout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457200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608076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Serialized · API-Ready · Scalable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POLICY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</a:rPr>
              <a:t>SLIDE 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4005072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SHAP · XAI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model predict this?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vulnerability_index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2145182" cy="201168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321454" y="1874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350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resilience_score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21408" y="2386584"/>
            <a:ext cx="1818742" cy="201168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995014" y="2350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825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food_security_score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21408" y="2862072"/>
            <a:ext cx="1515618" cy="201168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691890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shock_no_savings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21408" y="3337560"/>
            <a:ext cx="1352398" cy="201168"/>
          </a:xfrm>
          <a:prstGeom prst="roundRect">
            <a:avLst>
              <a:gd name="adj" fmla="val 1818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528670" y="33009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3776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log_income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21408" y="3813048"/>
            <a:ext cx="109590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272180" y="3776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4251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fl_numeric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21408" y="4288536"/>
            <a:ext cx="886054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062326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6634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provides local explainability — we can show exactly why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individual is at risk.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297680" cy="4005072"/>
          </a:xfrm>
          <a:prstGeom prst="roundRect">
            <a:avLst>
              <a:gd name="adj" fmla="val 2283"/>
            </a:avLst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4828032" y="107899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828032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 Simulator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14630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Simulate: Savings + Emergency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+ 30% Shock Reduction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2148840"/>
          <a:ext cx="3977640" cy="16002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−1,134 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Stayed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+852 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4828032" y="38404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— adjust variables, see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population-level impact in real time.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28032" y="4297680"/>
            <a:ext cx="3977640" cy="411480"/>
          </a:xfrm>
          <a:prstGeom prst="roundRect">
            <a:avLst>
              <a:gd name="adj" fmla="val 1777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2"/>
          <p:cNvSpPr/>
          <p:nvPr/>
        </p:nvSpPr>
        <p:spPr>
          <a:xfrm>
            <a:off x="4828032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1,134 fewer Kenyans predicted to worsen with this package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 · Business case · Next steps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4358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274320" y="1243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Savings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shock-exposed households with no buffer — our highest-risk interaction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Literacy Programmes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414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Tier-1 counties: Turkana, Tana River, Kisumu where impact is greatest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7432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Expansion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rural exclusion — mobile money access is a direct resilience multiplier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27432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68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 Safety Nets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30682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with Vulnerability Index &gt; 5 need immediate social protection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170432"/>
            <a:ext cx="4069080" cy="3520440"/>
          </a:xfrm>
          <a:prstGeom prst="roundRect">
            <a:avLst>
              <a:gd name="adj" fmla="val 3117"/>
            </a:avLst>
          </a:prstGeom>
          <a:solidFill>
            <a:srgbClr val="1A2A3A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965192" y="128016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965192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Business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65192" y="17373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61888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Africa — B2B SaaS API for credit risk &amp; social targeting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65192" y="2057400"/>
            <a:ext cx="361188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965192" y="22677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61888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· NGOs · Government · Insurance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65192" y="2587752"/>
            <a:ext cx="361188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965192" y="27980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61888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47-county Kenyan data · SHAP explainability · Policy Simulator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65192" y="3118104"/>
            <a:ext cx="361188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965192" y="33284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61888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$180M ARR potential (Kenya alone)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65192" y="3648456"/>
            <a:ext cx="361188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965192" y="38587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1888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Kenya → Year 2: E. Africa → Year 3: Pan-Africa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274320" y="4791456"/>
            <a:ext cx="85953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just build a model — we built a tool that can help move millions of Kenyans from 'Worsened' to 'Improved'.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717</Words>
  <Application>Microsoft Office PowerPoint</Application>
  <PresentationFormat>On-screen Show (16:9)</PresentationFormat>
  <Paragraphs>162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DataSprint 2026 — The PG's</dc:title>
  <dc:subject>PptxGenJS Presentation</dc:subject>
  <dc:creator>PptxGenJS</dc:creator>
  <cp:lastModifiedBy>Ramaiya Neil</cp:lastModifiedBy>
  <cp:revision>2</cp:revision>
  <dcterms:created xsi:type="dcterms:W3CDTF">2026-06-14T17:03:30Z</dcterms:created>
  <dcterms:modified xsi:type="dcterms:W3CDTF">2026-06-15T15:30:10Z</dcterms:modified>
</cp:coreProperties>
</file>